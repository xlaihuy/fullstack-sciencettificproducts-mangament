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 đây là hệ thống quản trị vòng đời đề tài theo chuẩn quy trình nội bộ của tổ chức nghiên cứu.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điểm đau chính: dữ liệu phân tán, duyệt nhiều bước, thiếu kiểm soát liên thông.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 lợi ích tách lớp: độc lập phát triển, dễ mở rộng, dễ CI/CD.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 layer là nơi áp đặt toàn bộ business rule. RBAC kết hợp ownership check chặn truy cập chéo tài nguyên.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rõ điểm kiểm soát an toàn: mã hóa kênh DB, tách secret theo môi trường, zero-downtime migration.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Luồng chính hệ thống đi qua M02→M03→M04→M05→M08.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Ownership validation: project_owner chỉ thao tác trên đề tài có ownerId = userId của họ.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Tách bạch quyền thẩm định khoa học và thẩm định tài chính.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superadmin không thay thế vai trò nghiệp vụ, mà quản trị người dùng/cấu hình/audit.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Hệ thống không cho phép nhảy trạng thái tùy ý. State machine là cơ chế bảo toàn tính nhất quán nghiệp vụ liên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 constraints đặt ở service layer. Đây là đặc trưng kỹ thuật giúp hệ thống 'đúng nghiệp vụ ngay từ thiết kế'.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là aggregate root. Quan hệ tài chính (BudgetItem) và audit trail phục vụ kiểm tra hậu kiểm.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Điểm kỹ thuật: trạng thái đổi tự động theo event nộp file. Tránh thao tác thủ công gây sai lệch tiến độ.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Quy trình có kiểm soát liên phòng ban, audit trail đầy đủ, thông báo tự động theo từng bước.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65760"/>
            <a:ext cx="8046720" cy="475488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Hệ thống Quản lý Nghiên cứu Khoa học
(Scientific Research Management System)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00A3BF"/>
                </a:solidFill>
              </a:rPr>
              <a:t>Báo cáo Đồ án Tốt nghiệp – Fullstack NCKH</a:t>
            </a:r>
          </a:p>
          <a:p>
            <a:pPr>
              <a:spcBef>
                <a:spcPts val="1600"/>
              </a:spcBef>
            </a:pPr>
            <a:r>
              <a:rPr sz="1200" i="1">
                <a:solidFill>
                  <a:srgbClr val="CCD9FF"/>
                </a:solidFill>
              </a:rPr>
              <a:t>Công nghệ: React · Node.js · Prisma ORM · MySQL (Aiven) · Render · JWT · RBAC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| Tổng quan đề tài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A3BF"/>
                </a:solidFill>
              </a:rPr>
              <a:t>Bối cảnh và mục tiêu hệ thống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9520"/>
            <a:ext cx="12188952" cy="5618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6680"/>
            <a:ext cx="7498079" cy="534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Tên đề tài:  </a:t>
            </a:r>
            <a:r>
              <a:rPr sz="1400" b="0">
                <a:solidFill>
                  <a:srgbClr val="111111"/>
                </a:solidFill>
              </a:rPr>
              <a:t>Hệ thống Quản lý Nghiên cứu Khoa học (Scientific Research Management System)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Mục tiêu:  </a:t>
            </a:r>
            <a:r>
              <a:rPr sz="1400" b="0">
                <a:solidFill>
                  <a:srgbClr val="111111"/>
                </a:solidFill>
              </a:rPr>
              <a:t>Số hóa toàn bộ quy trình từ đăng ký đề tài đến thanh lý và lưu trữ hồ sơ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Định hướng thiết kế:  </a:t>
            </a:r>
            <a:r>
              <a:rPr sz="1400" b="0">
                <a:solidFill>
                  <a:srgbClr val="111111"/>
                </a:solidFill>
              </a:rPr>
              <a:t>Chuẩn hóa nghiệp vụ · Tăng minh bạch · Kiểm soát theo vai trò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Giá trị cốt lõi:  </a:t>
            </a:r>
            <a:r>
              <a:rPr sz="1400" b="0">
                <a:solidFill>
                  <a:srgbClr val="111111"/>
                </a:solidFill>
              </a:rPr>
              <a:t>Giảm thao tác thủ công · Ngăn sai lệch trạng thái · Toàn vẹn dữ liệu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376680"/>
            <a:ext cx="3657600" cy="5344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468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5EA8"/>
                </a:solidFill>
              </a:rPr>
              <a:t>📊 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79600"/>
            <a:ext cx="3383280" cy="470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275C"/>
                </a:solidFill>
              </a:rPr>
              <a:t>Sơ đồ: Bài toán → Giải pháp số hóa → Quản trị chính sách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| Bài toán &amp; Phạm vi nghiệp vụ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A3BF"/>
                </a:solidFill>
              </a:rPr>
              <a:t>Phân tích vấn đề và ranh giới hệ thống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9520"/>
            <a:ext cx="12188952" cy="5618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6680"/>
            <a:ext cx="7498079" cy="534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Bài toán:  </a:t>
            </a:r>
            <a:r>
              <a:rPr sz="1400" b="0">
                <a:solidFill>
                  <a:srgbClr val="111111"/>
                </a:solidFill>
              </a:rPr>
              <a:t>Quy trình NCKH có nhiều vai trò, nhiều trạng thái, dễ phát sinh sai phạm quy trình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Phạm vi:  </a:t>
            </a:r>
            <a:r>
              <a:rPr sz="1400" b="0">
                <a:solidFill>
                  <a:srgbClr val="111111"/>
                </a:solidFill>
              </a:rPr>
              <a:t>Đề tài · Hợp đồng · Hội đồng nghiệm thu · Quyết toán · Lưu trữ · Báo cáo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Người dùng:  </a:t>
            </a:r>
            <a:r>
              <a:rPr sz="1400" b="0">
                <a:solidFill>
                  <a:srgbClr val="111111"/>
                </a:solidFill>
              </a:rPr>
              <a:t>7 vai trò nghiệp vụ được kiểm soát bằng RBAC và ownership validation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Đặc trưng:  </a:t>
            </a:r>
            <a:r>
              <a:rPr sz="1400" b="0">
                <a:solidFill>
                  <a:srgbClr val="111111"/>
                </a:solidFill>
              </a:rPr>
              <a:t>State Machine cứng cho vòng đời đề tài · Audit trail đầy đủ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376680"/>
            <a:ext cx="3657600" cy="5344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468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5EA8"/>
                </a:solidFill>
              </a:rPr>
              <a:t>📊 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79600"/>
            <a:ext cx="3383280" cy="470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275C"/>
                </a:solidFill>
              </a:rPr>
              <a:t>Sơ đồ: Swimlane 7 vai trò &amp; điểm bàn giao dữ liệu liên phòng ban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| Kiến trúc Fullstack tổng thể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A3BF"/>
                </a:solidFill>
              </a:rPr>
              <a:t>Mô hình 3 tầng Frontend – API –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9520"/>
            <a:ext cx="12188952" cy="5618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30960"/>
            <a:ext cx="11457432" cy="1705186"/>
          </a:xfrm>
          <a:prstGeom prst="rect">
            <a:avLst/>
          </a:prstGeom>
          <a:solidFill>
            <a:srgbClr val="2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07160"/>
            <a:ext cx="1828800" cy="157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432560"/>
            <a:ext cx="9079992" cy="157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React + Vite + TypeScript
Tailwind CSS · Axios (JWT Bearer)
Route Guard theo vai trò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12346"/>
            <a:ext cx="11457432" cy="1705186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88546"/>
            <a:ext cx="1828800" cy="157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Backend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213946"/>
            <a:ext cx="9079992" cy="157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Node.js + Express + TypeScript
3-Layer: Controller → Service → Repository
Zod Validation · RBAC Middleware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893733"/>
            <a:ext cx="11457432" cy="1705186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969933"/>
            <a:ext cx="1828800" cy="157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995333"/>
            <a:ext cx="9079992" cy="157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MySQL (Aiven Cloud)
Prisma ORM · SSL/TLS bắt buộc
14 Module · Soft Delete pattern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| Kiến trúc Backend 3 lớp &amp; Bảo mật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A3BF"/>
                </a:solidFill>
              </a:rPr>
              <a:t>Controller → Service → Repository · JWT · RBAC · Zod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9520"/>
            <a:ext cx="12188952" cy="5618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6680"/>
            <a:ext cx="7498079" cy="534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Controller:  </a:t>
            </a:r>
            <a:r>
              <a:rPr sz="1400" b="0">
                <a:solidFill>
                  <a:srgbClr val="111111"/>
                </a:solidFill>
              </a:rPr>
              <a:t>Validate input với Zod · Xử lý HTTP Request/Response · Log hành động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Service:  </a:t>
            </a:r>
            <a:r>
              <a:rPr sz="1400" b="0">
                <a:solidFill>
                  <a:srgbClr val="111111"/>
                </a:solidFill>
              </a:rPr>
              <a:t>Business Rule · State Machine · Ownership Check · Side Effects (Notification)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Repository:  </a:t>
            </a:r>
            <a:r>
              <a:rPr sz="1400" b="0">
                <a:solidFill>
                  <a:srgbClr val="111111"/>
                </a:solidFill>
              </a:rPr>
              <a:t>Truy vấn Prisma · Soft delete (is_deleted=false) · Pagination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Bảo mật:  </a:t>
            </a:r>
            <a:r>
              <a:rPr sz="1400" b="0">
                <a:solidFill>
                  <a:srgbClr val="111111"/>
                </a:solidFill>
              </a:rPr>
              <a:t>JWT (7d/30d) · bcrypt hash · RBAC middleware requireRole() · requireOwnerOrStaff()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376680"/>
            <a:ext cx="3657600" cy="5344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468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5EA8"/>
                </a:solidFill>
              </a:rPr>
              <a:t>📊 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79600"/>
            <a:ext cx="3383280" cy="470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275C"/>
                </a:solidFill>
              </a:rPr>
              <a:t>Sequence: HTTP Request → Auth → RBAC → Controller(Zod) → Service → Prisma → 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| Hạ tầng Dữ liệu &amp; Triển khai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A3BF"/>
                </a:solidFill>
              </a:rPr>
              <a:t>Aiven MySQL (SSL) + Render Blueprint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9520"/>
            <a:ext cx="12188952" cy="5618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6680"/>
            <a:ext cx="7498079" cy="534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Database:  </a:t>
            </a:r>
            <a:r>
              <a:rPr sz="1400" b="0">
                <a:solidFill>
                  <a:srgbClr val="111111"/>
                </a:solidFill>
              </a:rPr>
              <a:t>MySQL Cloud – Aiven · SSL/TLS bắt buộc · DATABASE_URL qua biến môi trường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Backend:  </a:t>
            </a:r>
            <a:r>
              <a:rPr sz="1400" b="0">
                <a:solidFill>
                  <a:srgbClr val="111111"/>
                </a:solidFill>
              </a:rPr>
              <a:t>Render Web Service (nckh-backend) · Node 22 · Port 10000 · Health check /api/health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Frontend:  </a:t>
            </a:r>
            <a:r>
              <a:rPr sz="1400" b="0">
                <a:solidFill>
                  <a:srgbClr val="111111"/>
                </a:solidFill>
              </a:rPr>
              <a:t>Render Static Site (nckh-frontend) · Vite build · SPA rewrite rule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Deploy:  </a:t>
            </a:r>
            <a:r>
              <a:rPr sz="1400" b="0">
                <a:solidFill>
                  <a:srgbClr val="111111"/>
                </a:solidFill>
              </a:rPr>
              <a:t>render.yaml Blueprint · npx prisma migrate deploy trước khi khởi động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Lưu ý:  </a:t>
            </a:r>
            <a:r>
              <a:rPr sz="1400" b="0">
                <a:solidFill>
                  <a:srgbClr val="111111"/>
                </a:solidFill>
              </a:rPr>
              <a:t>Filesystem ephemeral trên Render Free → cần S3/Cloudinary cho file lâu dài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376680"/>
            <a:ext cx="3657600" cy="5344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468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5EA8"/>
                </a:solidFill>
              </a:rPr>
              <a:t>📊 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79600"/>
            <a:ext cx="3383280" cy="470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275C"/>
                </a:solidFill>
              </a:rPr>
              <a:t>Sơ đồ: User → Render Frontend → Render Backend → Aiven MySQL (TLS lock)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| Bản đồ Chức năng (M01 – M10)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A3BF"/>
                </a:solidFill>
              </a:rPr>
              <a:t>10 Module nghiệp vụ của hệ thống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9520"/>
            <a:ext cx="12188952" cy="5618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6560" y="1381760"/>
            <a:ext cx="2189886" cy="2524760"/>
          </a:xfrm>
          <a:prstGeom prst="rect">
            <a:avLst/>
          </a:prstGeom>
          <a:solidFill>
            <a:srgbClr val="2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2760" y="1457960"/>
            <a:ext cx="20374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2760" y="1915160"/>
            <a:ext cx="2037486" cy="191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Auth &amp; User Governance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08046" y="1381760"/>
            <a:ext cx="2189886" cy="2524760"/>
          </a:xfrm>
          <a:prstGeom prst="rect">
            <a:avLst/>
          </a:prstGeom>
          <a:solidFill>
            <a:srgbClr val="2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4246" y="1457960"/>
            <a:ext cx="20374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4246" y="1915160"/>
            <a:ext cx="2037486" cy="191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Quản lý Đề tài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99532" y="1381760"/>
            <a:ext cx="2189886" cy="2524760"/>
          </a:xfrm>
          <a:prstGeom prst="rect">
            <a:avLst/>
          </a:prstGeom>
          <a:solidFill>
            <a:srgbClr val="2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5732" y="1457960"/>
            <a:ext cx="20374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5732" y="1915160"/>
            <a:ext cx="2037486" cy="191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Quản lý Hợp đồng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91019" y="1381760"/>
            <a:ext cx="2189886" cy="2524760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7219" y="1457960"/>
            <a:ext cx="20374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7219" y="1915160"/>
            <a:ext cx="2037486" cy="191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Hội đồng &amp; Nghiệm thu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82505" y="1381760"/>
            <a:ext cx="2189886" cy="2524760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8705" y="1457960"/>
            <a:ext cx="20374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8705" y="1915160"/>
            <a:ext cx="2037486" cy="191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Quyết toán &amp; Kế toán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560" y="4008120"/>
            <a:ext cx="2189886" cy="252476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2760" y="4084320"/>
            <a:ext cx="20374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2760" y="4541520"/>
            <a:ext cx="2037486" cy="191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Gia hạn Đề tài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08046" y="4008120"/>
            <a:ext cx="2189886" cy="252476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4246" y="4084320"/>
            <a:ext cx="20374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4246" y="4541520"/>
            <a:ext cx="2037486" cy="191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Quản lý Biểu mẫu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99532" y="4008120"/>
            <a:ext cx="2189886" cy="252476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5732" y="4084320"/>
            <a:ext cx="20374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5732" y="4541520"/>
            <a:ext cx="2037486" cy="191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Lưu trữ Hồ sơ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91019" y="4008120"/>
            <a:ext cx="2189886" cy="2524760"/>
          </a:xfrm>
          <a:prstGeom prst="rect">
            <a:avLst/>
          </a:prstGeom>
          <a:solidFill>
            <a:srgbClr val="1BA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7219" y="4084320"/>
            <a:ext cx="20374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7219" y="4541520"/>
            <a:ext cx="2037486" cy="191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Báo cáo &amp; Thống kê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82505" y="4008120"/>
            <a:ext cx="2189886" cy="2524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58705" y="4084320"/>
            <a:ext cx="20374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58705" y="4541520"/>
            <a:ext cx="2037486" cy="191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Superadmin &amp; System Config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| Phân quyền theo vai trò – Nhóm vận hành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A3BF"/>
                </a:solidFill>
              </a:rPr>
              <a:t>research_staff · project_owner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9520"/>
            <a:ext cx="12188952" cy="5618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6560" y="1330960"/>
            <a:ext cx="5627116" cy="411480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2760" y="1381760"/>
            <a:ext cx="54747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RESEARCH STAFF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560" y="1788160"/>
            <a:ext cx="5627116" cy="484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M02: Tạo/cập nhật đề tài, kiểm soát chuyển trạng thái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M03: Parse hợp đồng từ PDF/DOCX, tạo hợp đồng, cập nhật trạng thái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M04: Tạo hội đồng, kiểm tra COI, thêm/gỡ thành viên, duyệt hội đồng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M05: Yêu cầu bổ sung hồ sơ quyết toán, theo dõi trạng thái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M06: Phê duyệt / từ chối yêu cầu gia hạn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M07: Upload &amp; quản lý biểu mẫu (DOCX auto-fill)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5276" y="1330960"/>
            <a:ext cx="5627116" cy="411480"/>
          </a:xfrm>
          <a:prstGeom prst="rect">
            <a:avLst/>
          </a:prstGeom>
          <a:solidFill>
            <a:srgbClr val="2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21476" y="1381760"/>
            <a:ext cx="54747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PROJECT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5276" y="1788160"/>
            <a:ext cx="5627116" cy="484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M02: Xem đề tài sở hữu (ownerId scoped)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M03: Ký hợp đồng (chỉ khi status=cho_duyet)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M02: Nộp báo cáo giữa kỳ &amp; báo cáo cuối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M05: Nộp hồ sơ quyết toán (chỉ đề tài của mình)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M06: Tạo yêu cầu gia hạn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M08: Tải hồ sơ lưu trữ (watermark nội bộ)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08 | Phân quyền theo vai trò – Nhóm thẩm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A3BF"/>
                </a:solidFill>
              </a:rPr>
              <a:t>council_member · accounting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9520"/>
            <a:ext cx="12188952" cy="5618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6560" y="1330960"/>
            <a:ext cx="5627116" cy="41148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2760" y="1381760"/>
            <a:ext cx="54747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COUNCIL 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560" y="1788160"/>
            <a:ext cx="5627116" cy="484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M04: Xem hội đồng được gán (scoped by membership)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M04 – Reviewer: Gửi nhận xét &amp; chấm điểm phản biện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M04 – Chairman: Chấm điểm chủ tịch hội đồng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M04 – Secretary: Ghi biên bản · Tổng hợp điểm · Xác nhận hoàn thành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Kiểm tra COI trước khi thêm thành viên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Auto: Hoàn thành hội đồng → đề tài → da_nghiem_thu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5276" y="1330960"/>
            <a:ext cx="5627116" cy="4114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21476" y="1381760"/>
            <a:ext cx="54747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ACCOUNTING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5276" y="1788160"/>
            <a:ext cx="5627116" cy="484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M05: Dashboard tổng hợp số liệu quyết toán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M05: Danh sách chứng từ kế toán (với budget items)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M05: Thẩm định hồ sơ (hop_le / cho_bo_sung / hoa_don_vat)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M05: Xác nhận thanh lý (da_xac_nhan) → project tự động da_thanh_ly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M05: Xuất báo cáo quyết toán (.xlsx thực tế)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09 | Phân quyền theo vai trò – Nhóm giám sát &amp; quản trị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A3BF"/>
                </a:solidFill>
              </a:rPr>
              <a:t>archive_staff · report_viewer · superadmin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9520"/>
            <a:ext cx="12188952" cy="5618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6560" y="1330960"/>
            <a:ext cx="3717544" cy="411480"/>
          </a:xfrm>
          <a:prstGeom prst="rect">
            <a:avLst/>
          </a:prstGeom>
          <a:solidFill>
            <a:srgbClr val="1BA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2760" y="1381760"/>
            <a:ext cx="3565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ARCHIVE STAFF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560" y="1788160"/>
            <a:ext cx="3717544" cy="484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M08: Upload hồ sơ lưu trữ (chỉ đề tài da_nghiem_thu)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M08: Duyệt danh sách &amp; tải kho lưu trữ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5704" y="1330960"/>
            <a:ext cx="3717544" cy="411480"/>
          </a:xfrm>
          <a:prstGeom prst="rect">
            <a:avLst/>
          </a:prstGeom>
          <a:solidFill>
            <a:srgbClr val="2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1904" y="1381760"/>
            <a:ext cx="3565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REPORT VIEWER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5704" y="1788160"/>
            <a:ext cx="3717544" cy="484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M09: Dashboard thống kê (tổng dự án, ngân sách, tiến độ)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M09: Thống kê theo lĩnh vực, trạng thái, hợp đồng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M09: Xuất báo cáo (Excel/metadata URL)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4848" y="1330960"/>
            <a:ext cx="3717544" cy="411480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1048" y="1381760"/>
            <a:ext cx="3565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4848" y="1788160"/>
            <a:ext cx="3717544" cy="484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M01 + M10: CRUD người dùng, khoá/reset tài khoản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M10: Quản lý danh mục (lĩnh vực, phòng ban)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M10: Cấu hình hệ thống (key/value)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275C"/>
                </a:solidFill>
              </a:rPr>
              <a:t>▪  M10: Audit log toàn hệ thống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10 | State Machine – Vòng đời Đề tài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A3BF"/>
                </a:solidFill>
              </a:rPr>
              <a:t>ProjectStatus · ContractStatus · CouncilStatus · SettlementStatus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9520"/>
            <a:ext cx="12188952" cy="5618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22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5C"/>
                </a:solidFill>
              </a:rPr>
              <a:t>Project Status Machine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42440"/>
            <a:ext cx="1645920" cy="822960"/>
          </a:xfrm>
          <a:prstGeom prst="rect">
            <a:avLst/>
          </a:prstGeom>
          <a:solidFill>
            <a:srgbClr val="2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3400" y="1818640"/>
            <a:ext cx="149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dang_thuc_hien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089912"/>
            <a:ext cx="154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Đang thực hiện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03120" y="2153920.0"/>
            <a:ext cx="167640" cy="0.0"/>
          </a:xfrm>
          <a:prstGeom prst="line">
            <a:avLst/>
          </a:prstGeom>
          <a:ln w="19050">
            <a:solidFill>
              <a:srgbClr val="275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194560" y="1742440"/>
            <a:ext cx="1645920" cy="82296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70760" y="1818640"/>
            <a:ext cx="149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cho_nghiem_thu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5360" y="2089912"/>
            <a:ext cx="154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Chờ nghiệm thu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0480" y="2153920.0"/>
            <a:ext cx="167640" cy="0.0"/>
          </a:xfrm>
          <a:prstGeom prst="line">
            <a:avLst/>
          </a:prstGeom>
          <a:ln w="19050">
            <a:solidFill>
              <a:srgbClr val="275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931920" y="1742440"/>
            <a:ext cx="1645920" cy="822960"/>
          </a:xfrm>
          <a:prstGeom prst="rect">
            <a:avLst/>
          </a:prstGeom>
          <a:solidFill>
            <a:srgbClr val="1BA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08120" y="1818640"/>
            <a:ext cx="149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da_nghiem_thu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2720" y="2089912"/>
            <a:ext cx="154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Đã nghiệm thu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77840" y="2153920.0"/>
            <a:ext cx="167640" cy="0.0"/>
          </a:xfrm>
          <a:prstGeom prst="line">
            <a:avLst/>
          </a:prstGeom>
          <a:ln w="19050">
            <a:solidFill>
              <a:srgbClr val="275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669280" y="1742440"/>
            <a:ext cx="1645920" cy="8229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5480" y="1818640"/>
            <a:ext cx="149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da_thanh_ly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0080" y="2089912"/>
            <a:ext cx="154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Đã thanh lý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656840"/>
            <a:ext cx="1645920" cy="82296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3400" y="2733040"/>
            <a:ext cx="149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tre_han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3004312"/>
            <a:ext cx="154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Trễ hạn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2656840"/>
            <a:ext cx="1645920" cy="8229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70760" y="2733040"/>
            <a:ext cx="149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huy_bo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5360" y="3004312"/>
            <a:ext cx="154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Hủy bỏ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14224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5C"/>
                </a:solidFill>
              </a:rPr>
              <a:t>Settlement Status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1742440"/>
            <a:ext cx="1005840" cy="71323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74279" y="1818640"/>
            <a:ext cx="85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cho_bo_sung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8879" y="2089912"/>
            <a:ext cx="90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Chờ bổ sung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49639" y="1742440"/>
            <a:ext cx="1005840" cy="713232"/>
          </a:xfrm>
          <a:prstGeom prst="rect">
            <a:avLst/>
          </a:prstGeom>
          <a:solidFill>
            <a:srgbClr val="2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25839" y="1818640"/>
            <a:ext cx="85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hop_le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00439" y="2089912"/>
            <a:ext cx="90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Hợp lệ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79" y="2528824"/>
            <a:ext cx="1005840" cy="713232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74279" y="2605024"/>
            <a:ext cx="85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hoa_don_vat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8879" y="2876296"/>
            <a:ext cx="90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Hóa đơn VAT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39" y="2528824"/>
            <a:ext cx="1005840" cy="713232"/>
          </a:xfrm>
          <a:prstGeom prst="rect">
            <a:avLst/>
          </a:prstGeom>
          <a:solidFill>
            <a:srgbClr val="1BA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25839" y="2605024"/>
            <a:ext cx="85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da_xac_nhan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00439" y="2876296"/>
            <a:ext cx="90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Đã xác nhận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7084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75C"/>
                </a:solidFill>
              </a:rPr>
              <a:t>Council Status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982720"/>
            <a:ext cx="1828800" cy="640080"/>
          </a:xfrm>
          <a:prstGeom prst="rect">
            <a:avLst/>
          </a:prstGeom>
          <a:solidFill>
            <a:srgbClr val="2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3400" y="4058920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cho_danh_gia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8000" y="4330192"/>
            <a:ext cx="172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Chờ đánh giá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77440" y="3982720"/>
            <a:ext cx="1828800" cy="64008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53640" y="4058920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dang_danh_gia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28240" y="4330192"/>
            <a:ext cx="172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Đang đánh giá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97680" y="3982720"/>
            <a:ext cx="1828800" cy="640080"/>
          </a:xfrm>
          <a:prstGeom prst="rect">
            <a:avLst/>
          </a:prstGeom>
          <a:solidFill>
            <a:srgbClr val="1BA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73880" y="4058920"/>
            <a:ext cx="167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da_hoan_thanh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8480" y="4330192"/>
            <a:ext cx="172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Đã hoàn thành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11 | Luật Nghiệp vụ Chặt chẽ (Business Rules)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A3BF"/>
                </a:solidFill>
              </a:rPr>
              <a:t>Ownership · Gate Constraints · Auto Side Effects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9520"/>
            <a:ext cx="12188952" cy="5618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6680"/>
            <a:ext cx="7498079" cy="534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Ownership validation:  </a:t>
            </a:r>
            <a:r>
              <a:rPr sz="1400" b="0">
                <a:solidFill>
                  <a:srgbClr val="111111"/>
                </a:solidFill>
              </a:rPr>
              <a:t>Chỉ owner mới ký HĐ, nộp báo cáo cuối, nộp QT, tạo gia hạn (service-level check)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Gate nghiệm thu:  </a:t>
            </a:r>
            <a:r>
              <a:rPr sz="1400" b="0">
                <a:solidFill>
                  <a:srgbClr val="111111"/>
                </a:solidFill>
              </a:rPr>
              <a:t>Không được vào cho_nghiem_thu nếu chưa có final report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Settlement transition:  </a:t>
            </a:r>
            <a:r>
              <a:rPr sz="1400" b="0">
                <a:solidFill>
                  <a:srgbClr val="111111"/>
                </a:solidFill>
              </a:rPr>
              <a:t>Chỉ cho phép chuyển hợp lệ (cho_bo_sung/hop_le/hoa_don_vat/da_xac_nhan)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Auto side effects:  </a:t>
            </a:r>
            <a:r>
              <a:rPr sz="1400" b="0">
                <a:solidFill>
                  <a:srgbClr val="111111"/>
                </a:solidFill>
              </a:rPr>
              <a:t>da_xac_nhan → project.status=da_thanh_ly + upsert ArchiveRecord tự động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Signed contract:  </a:t>
            </a:r>
            <a:r>
              <a:rPr sz="1400" b="0">
                <a:solidFill>
                  <a:srgbClr val="111111"/>
                </a:solidFill>
              </a:rPr>
              <a:t>Không xóa được hợp đồng đã ký (is_deleted blocked)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Soft delete:  </a:t>
            </a:r>
            <a:r>
              <a:rPr sz="1400" b="0">
                <a:solidFill>
                  <a:srgbClr val="111111"/>
                </a:solidFill>
              </a:rPr>
              <a:t>13+ bảng dùng is_deleted=false thay vì xóa vật lý · Audit log ghi old_values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376680"/>
            <a:ext cx="3657600" cy="5344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468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5EA8"/>
                </a:solidFill>
              </a:rPr>
              <a:t>📊 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79600"/>
            <a:ext cx="3383280" cy="470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275C"/>
                </a:solidFill>
              </a:rPr>
              <a:t>Rule engine: Input Action → Zod Validate → Ownership → Transition → Side Effects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12 | ERD – Thực thể lõi (Projects · Contracts · Settlements)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A3BF"/>
                </a:solidFill>
              </a:rPr>
              <a:t>14 bảng · Prisma Schema · MySQL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9520"/>
            <a:ext cx="12188952" cy="5618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22400"/>
            <a:ext cx="2468880" cy="347472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473200"/>
            <a:ext cx="236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69872"/>
            <a:ext cx="24688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27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400" y="1806448"/>
            <a:ext cx="2316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111"/>
                </a:solidFill>
              </a:rPr>
              <a:t>· id · name · email</a:t>
            </a:r>
          </a:p>
          <a:p>
            <a:r>
              <a:rPr sz="900">
                <a:solidFill>
                  <a:srgbClr val="111111"/>
                </a:solidFill>
              </a:rPr>
              <a:t>· role (enum 7)</a:t>
            </a:r>
          </a:p>
          <a:p>
            <a:r>
              <a:rPr sz="900">
                <a:solidFill>
                  <a:srgbClr val="111111"/>
                </a:solidFill>
              </a:rPr>
              <a:t>· is_deleted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422400"/>
            <a:ext cx="2468880" cy="347472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1200" y="1473200"/>
            <a:ext cx="236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769872"/>
            <a:ext cx="24688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27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6600" y="1806448"/>
            <a:ext cx="2316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111"/>
                </a:solidFill>
              </a:rPr>
              <a:t>· id · code · title</a:t>
            </a:r>
          </a:p>
          <a:p>
            <a:r>
              <a:rPr sz="900">
                <a:solidFill>
                  <a:srgbClr val="111111"/>
                </a:solidFill>
              </a:rPr>
              <a:t>· ownerId (FK→User)</a:t>
            </a:r>
          </a:p>
          <a:p>
            <a:r>
              <a:rPr sz="900">
                <a:solidFill>
                  <a:srgbClr val="111111"/>
                </a:solidFill>
              </a:rPr>
              <a:t>· status · budget</a:t>
            </a:r>
          </a:p>
          <a:p>
            <a:r>
              <a:rPr sz="900">
                <a:solidFill>
                  <a:srgbClr val="111111"/>
                </a:solidFill>
              </a:rPr>
              <a:t>· is_deleted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422400"/>
            <a:ext cx="2468880" cy="347472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4400" y="1473200"/>
            <a:ext cx="236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Contract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769872"/>
            <a:ext cx="24688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27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9800" y="1806448"/>
            <a:ext cx="2316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111"/>
                </a:solidFill>
              </a:rPr>
              <a:t>· id · code (HĐ-YYMM)</a:t>
            </a:r>
          </a:p>
          <a:p>
            <a:r>
              <a:rPr sz="900">
                <a:solidFill>
                  <a:srgbClr val="111111"/>
                </a:solidFill>
              </a:rPr>
              <a:t>· projectId (FK)</a:t>
            </a:r>
          </a:p>
          <a:p>
            <a:r>
              <a:rPr sz="900">
                <a:solidFill>
                  <a:srgbClr val="111111"/>
                </a:solidFill>
              </a:rPr>
              <a:t>· status · signedDate</a:t>
            </a:r>
          </a:p>
          <a:p>
            <a:r>
              <a:rPr sz="900">
                <a:solidFill>
                  <a:srgbClr val="111111"/>
                </a:solidFill>
              </a:rPr>
              <a:t>· pdfUrl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1422400"/>
            <a:ext cx="2468880" cy="347472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7600" y="1473200"/>
            <a:ext cx="236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Council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1769872"/>
            <a:ext cx="24688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27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3000" y="1806448"/>
            <a:ext cx="2316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111"/>
                </a:solidFill>
              </a:rPr>
              <a:t>· id · decisionCode</a:t>
            </a:r>
          </a:p>
          <a:p>
            <a:r>
              <a:rPr sz="900">
                <a:solidFill>
                  <a:srgbClr val="111111"/>
                </a:solidFill>
              </a:rPr>
              <a:t>· projectId (FK)</a:t>
            </a:r>
          </a:p>
          <a:p>
            <a:r>
              <a:rPr sz="900">
                <a:solidFill>
                  <a:srgbClr val="111111"/>
                </a:solidFill>
              </a:rPr>
              <a:t>· status · members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525520"/>
            <a:ext cx="2468880" cy="347472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000" y="3576320"/>
            <a:ext cx="236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Settlement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872992"/>
            <a:ext cx="24688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27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3400" y="3909568"/>
            <a:ext cx="2316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111"/>
                </a:solidFill>
              </a:rPr>
              <a:t>· id · code (QT-YYYY)</a:t>
            </a:r>
          </a:p>
          <a:p>
            <a:r>
              <a:rPr sz="900">
                <a:solidFill>
                  <a:srgbClr val="111111"/>
                </a:solidFill>
              </a:rPr>
              <a:t>· projectId (FK)</a:t>
            </a:r>
          </a:p>
          <a:p>
            <a:r>
              <a:rPr sz="900">
                <a:solidFill>
                  <a:srgbClr val="111111"/>
                </a:solidFill>
              </a:rPr>
              <a:t>· status · totalAmount</a:t>
            </a:r>
          </a:p>
          <a:p>
            <a:r>
              <a:rPr sz="900">
                <a:solidFill>
                  <a:srgbClr val="111111"/>
                </a:solidFill>
              </a:rPr>
              <a:t>· supplementNote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525520"/>
            <a:ext cx="2468880" cy="347472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51200" y="3576320"/>
            <a:ext cx="236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BudgetItem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3872992"/>
            <a:ext cx="24688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27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76600" y="3909568"/>
            <a:ext cx="2316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111"/>
                </a:solidFill>
              </a:rPr>
              <a:t>· id · settlementId (FK)</a:t>
            </a:r>
          </a:p>
          <a:p>
            <a:r>
              <a:rPr sz="900">
                <a:solidFill>
                  <a:srgbClr val="111111"/>
                </a:solidFill>
              </a:rPr>
              <a:t>· category · planned</a:t>
            </a:r>
          </a:p>
          <a:p>
            <a:r>
              <a:rPr sz="900">
                <a:solidFill>
                  <a:srgbClr val="111111"/>
                </a:solidFill>
              </a:rPr>
              <a:t>· spent · 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3525520"/>
            <a:ext cx="2468880" cy="347472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94400" y="3576320"/>
            <a:ext cx="236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SettlementAudit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872992"/>
            <a:ext cx="24688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27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19800" y="3909568"/>
            <a:ext cx="2316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111"/>
                </a:solidFill>
              </a:rPr>
              <a:t>· id · settlementId (FK)</a:t>
            </a:r>
          </a:p>
          <a:p>
            <a:r>
              <a:rPr sz="900">
                <a:solidFill>
                  <a:srgbClr val="111111"/>
                </a:solidFill>
              </a:rPr>
              <a:t>· content · author</a:t>
            </a:r>
          </a:p>
          <a:p>
            <a:r>
              <a:rPr sz="900">
                <a:solidFill>
                  <a:srgbClr val="111111"/>
                </a:solidFill>
              </a:rPr>
              <a:t>· timestamp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3525520"/>
            <a:ext cx="2468880" cy="347472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7600" y="3576320"/>
            <a:ext cx="236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ArchiveRecord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3872992"/>
            <a:ext cx="24688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27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63000" y="3909568"/>
            <a:ext cx="2316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111"/>
                </a:solidFill>
              </a:rPr>
              <a:t>· id · projectId (FK, 1:1)</a:t>
            </a:r>
          </a:p>
          <a:p>
            <a:r>
              <a:rPr sz="900">
                <a:solidFill>
                  <a:srgbClr val="111111"/>
                </a:solidFill>
              </a:rPr>
              <a:t>· archivedBy · fileUrlsJson</a:t>
            </a:r>
          </a:p>
          <a:p>
            <a:r>
              <a:rPr sz="900">
                <a:solidFill>
                  <a:srgbClr val="111111"/>
                </a:solidFill>
              </a:rPr>
              <a:t>· notes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13 | Sequence Diagram – Final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A3BF"/>
                </a:solidFill>
              </a:rPr>
              <a:t>Luồng nộp hồ sơ cuối kỳ tự động chuyển trạng thái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9520"/>
            <a:ext cx="12188952" cy="5618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6680"/>
            <a:ext cx="7498079" cy="534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Actor:  </a:t>
            </a:r>
            <a:r>
              <a:rPr sz="1400" b="0">
                <a:solidFill>
                  <a:srgbClr val="111111"/>
                </a:solidFill>
              </a:rPr>
              <a:t>project_owner (đã xác thực JWT, role scoped)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Bước 1:  </a:t>
            </a:r>
            <a:r>
              <a:rPr sz="1400" b="0">
                <a:solidFill>
                  <a:srgbClr val="111111"/>
                </a:solidFill>
              </a:rPr>
              <a:t>FE upload file + content → POST /api/projects/:id/final-submission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Bước 2:  </a:t>
            </a:r>
            <a:r>
              <a:rPr sz="1400" b="0">
                <a:solidFill>
                  <a:srgbClr val="111111"/>
                </a:solidFill>
              </a:rPr>
              <a:t>Auth middleware xác thực token · RBAC requireRole(project_owner)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Bước 3:  </a:t>
            </a:r>
            <a:r>
              <a:rPr sz="1400" b="0">
                <a:solidFill>
                  <a:srgbClr val="111111"/>
                </a:solidFill>
              </a:rPr>
              <a:t>ProjectService.submitFinalReport → kiểm tra ownership (ownerId === actorId)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Bước 4:  </a:t>
            </a:r>
            <a:r>
              <a:rPr sz="1400" b="0">
                <a:solidFill>
                  <a:srgbClr val="111111"/>
                </a:solidFill>
              </a:rPr>
              <a:t>Lưu ProjectReport (type=final) · Auto update project.status = cho_nghiem_thu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Bước 5:  </a:t>
            </a:r>
            <a:r>
              <a:rPr sz="1400" b="0">
                <a:solidFill>
                  <a:srgbClr val="111111"/>
                </a:solidFill>
              </a:rPr>
              <a:t>NotificationService → gửi thông báo research_staff &amp; superadmin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376680"/>
            <a:ext cx="3657600" cy="5344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468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5EA8"/>
                </a:solidFill>
              </a:rPr>
              <a:t>📊 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79600"/>
            <a:ext cx="3383280" cy="470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275C"/>
                </a:solidFill>
              </a:rPr>
              <a:t>Sequence: ProjectOwner → API → Auth → RBAC → Service → Prisma → NotificationService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00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14 | Activity Diagram – Quyết toán Tài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A3BF"/>
                </a:solidFill>
              </a:rPr>
              <a:t>project_owner → research_staff → accounting → archive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9520"/>
            <a:ext cx="12188952" cy="5618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6680"/>
            <a:ext cx="7498079" cy="534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Bước 1 – Owner:  </a:t>
            </a:r>
            <a:r>
              <a:rPr sz="1400" b="0">
                <a:solidFill>
                  <a:srgbClr val="111111"/>
                </a:solidFill>
              </a:rPr>
              <a:t>Nộp hồ sơ QT (POST /settlements) · Hệ thống sinh mã QT-YYYY-NNNN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Bước 2 – Staff:  </a:t>
            </a:r>
            <a:r>
              <a:rPr sz="1400" b="0">
                <a:solidFill>
                  <a:srgbClr val="111111"/>
                </a:solidFill>
              </a:rPr>
              <a:t>Xem xét · Yêu cầu bổ sung (cho_bo_sung) hoặc đánh dấu hợp lệ (hop_le)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Bước 3 – Accounting:  </a:t>
            </a:r>
            <a:r>
              <a:rPr sz="1400" b="0">
                <a:solidFill>
                  <a:srgbClr val="111111"/>
                </a:solidFill>
              </a:rPr>
              <a:t>Thẩm định chứng từ (hop_le / hoa_don_vat / da_xac_nhan)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Bước 4 – Auto (Hệ thống):  </a:t>
            </a:r>
            <a:r>
              <a:rPr sz="1400" b="0">
                <a:solidFill>
                  <a:srgbClr val="111111"/>
                </a:solidFill>
              </a:rPr>
              <a:t>da_xac_nhan → project=da_thanh_ly + ArchiveRecord auto-created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A275C"/>
                </a:solidFill>
              </a:rPr>
              <a:t>▪  Bước 5 – Archive:  </a:t>
            </a:r>
            <a:r>
              <a:rPr sz="1400" b="0">
                <a:solidFill>
                  <a:srgbClr val="111111"/>
                </a:solidFill>
              </a:rPr>
              <a:t>archive_staff bổ sung hồ sơ kho lưu trữ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376680"/>
            <a:ext cx="3657600" cy="5344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468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5EA8"/>
                </a:solidFill>
              </a:rPr>
              <a:t>📊 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79600"/>
            <a:ext cx="3383280" cy="470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275C"/>
                </a:solidFill>
              </a:rPr>
              <a:t>Activity: Submit → [Review] → [Supplement loop] → Verify → Approve → [da_thanh_ly]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